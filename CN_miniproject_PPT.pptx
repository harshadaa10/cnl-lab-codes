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7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15 seconds. Replace all bracketed placeholders and prompts with your own project details. Keep explanations brief. Total time across slides 1–7 is 5 minutes, including the demonstration. Slide 8 is for reference during questions. Logo source: https://mitwpu.edu.in/uploads/images/MIT-WPU-logo-1.webp. Introduce only the title and team; do not read every PRN.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40 seconds. Replace all bracketed placeholders and prompts with your own project details. Keep explanations brief. Total time across slides 1–7 is 5 minutes, including the demonstration. Slide 8 is for reference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45 seconds. Replace all bracketed placeholders and prompts with your own project details. Keep explanations brief. Total time across slides 1–7 is 5 minutes, including the demonstration. Slide 8 is for reference during questions. Explain the diagram and only the most relevant design decisions. Use an actual project diagram with readable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55 seconds. Replace all bracketed placeholders and prompts with your own project details. Keep explanations brief. Total time across slides 1–7 is 5 minutes, including the demonstration. Slide 8 is for reference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50 seconds. Replace all bracketed placeholders and prompts with your own project details. Keep explanations brief. Total time across slides 1–7 is 5 minutes, including the demonstration. Slide 8 is for reference during questions. Show actual evidence. Explain the output and mention any failed or partial tests. Do not invent performance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65 seconds. Replace all bracketed placeholders and prompts with your own project details. Keep explanations brief. Total time across slides 1–7 is 5 minutes, including the demonstration. Slide 8 is for reference during questions. Prepare the project before the timer starts. Keep the demo to about one minute. Keep a screenshot or short recording ready as a backup, and identify it as recorded evidence if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30 seconds. Replace all bracketed placeholders and prompts with your own project details. Keep explanations brief. Total time across slides 1–7 is 5 minutes, including the demonstration. Slide 8 is for reference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Backup slide. Replace all bracketed placeholders and prompts with your own project details. Keep explanations brief. Total time across slides 1–7 is 5 minutes, including the demonstration. Slide 8 is for reference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914400" y="2590800"/>
            <a:ext cx="73152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371600" y="3771900"/>
            <a:ext cx="64008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914400" y="2857500"/>
            <a:ext cx="73152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514350" y="533400"/>
            <a:ext cx="81153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514350" y="1905000"/>
            <a:ext cx="81153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514350" y="533400"/>
            <a:ext cx="81153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514350" y="1905000"/>
            <a:ext cx="37719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4857750" y="1905000"/>
            <a:ext cx="37719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514350" y="533400"/>
            <a:ext cx="81153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514350" y="1905000"/>
            <a:ext cx="37719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Grp="1"/>
          </p:cNvSpPr>
          <p:nvPr/>
        </p:nvSpPr>
        <p:spPr>
          <a:xfrm>
            <a:off x="523875" y="1524000"/>
            <a:ext cx="8096250" cy="1000125"/>
          </a:xfrm>
          <a:prstGeom prst="rect">
            <a:avLst/>
          </a:prstGeom>
          <a:noFill/>
          <a:ln w="12700" cap="flat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6576" tIns="27432" rIns="36576" bIns="27432" anchor="ctr"/>
          <a:lstStyle>
            <a:defPPr>
              <a:defRPr sz="2550" b="1">
                <a:solidFill>
                  <a:srgbClr val="2037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</a:lstStyle>
          <a:p>
            <a:pPr algn="ctr">
              <a:spcBef>
                <a:spcPts val="0"/>
              </a:spcBef>
              <a:spcAft>
                <a:spcPts val="500"/>
              </a:spcAft>
              <a:defRPr sz="2550" b="1">
                <a:solidFill>
                  <a:srgbClr val="2037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800" b="1" i="0">
                <a:solidFill>
                  <a:srgbClr val="1F4E79"/>
                </a:solidFill>
                <a:latin typeface="Aptos"/>
              </a:rPr>
              <a:t>NETWORK HEALTH</a:t>
            </a:r>
            <a:endParaRPr sz="2800" b="1" i="0">
              <a:solidFill>
                <a:srgbClr val="1F4E79"/>
              </a:solidFill>
              <a:latin typeface="Aptos"/>
            </a:endParaRP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800" b="1" i="0">
                <a:solidFill>
                  <a:srgbClr val="1F4E79"/>
                </a:solidFill>
                <a:latin typeface="Aptos"/>
              </a:rPr>
              <a:t>MONITORING SYSTEM</a:t>
            </a:r>
            <a:endParaRPr sz="2800" b="1" i="0">
              <a:solidFill>
                <a:srgbClr val="1F4E79"/>
              </a:solidFill>
              <a:latin typeface="Aptos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6576" tIns="27432" rIns="36576" bIns="27432" anchor="ctr"/>
          <a:lstStyle>
            <a:defPPr>
              <a:defRPr sz="1125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</a:lstStyle>
          <a:p>
            <a:pPr algn="l">
              <a:spcBef>
                <a:spcPts val="0"/>
              </a:spcBef>
              <a:spcAft>
                <a:spcPts val="300"/>
              </a:spcAft>
              <a:defRPr sz="1125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 i="0">
                <a:solidFill>
                  <a:srgbClr val="1F4E79"/>
                </a:solidFill>
                <a:latin typeface="Aptos"/>
              </a:rPr>
              <a:t>Computer Networks Laboratory  •  CSE20110</a:t>
            </a:r>
            <a:endParaRPr sz="900" b="0" i="0">
              <a:solidFill>
                <a:srgbClr val="1F4E79"/>
              </a:solidFill>
              <a:latin typeface="Apto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6647" y="349624"/>
            <a:ext cx="3310706" cy="952500"/>
          </a:xfrm>
          <a:prstGeom prst="rect">
            <a:avLst/>
          </a:prstGeom>
        </p:spPr>
      </p:pic>
      <p:sp>
        <p:nvSpPr>
          <p:cNvPr id="5" name="Rectangle 4"/>
          <p:cNvSpPr>
            <a:spLocks noGrp="1"/>
          </p:cNvSpPr>
          <p:nvPr/>
        </p:nvSpPr>
        <p:spPr>
          <a:xfrm>
            <a:off x="523875" y="2667000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6576" tIns="27432" rIns="36576" bIns="27432" anchor="ctr"/>
          <a:lstStyle>
            <a:defPPr>
              <a:defRPr sz="1950" b="1">
                <a:solidFill>
                  <a:srgbClr val="2020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</a:lstStyle>
          <a:p>
            <a:pPr algn="ctr">
              <a:spcBef>
                <a:spcPts val="0"/>
              </a:spcBef>
              <a:spcAft>
                <a:spcPts val="300"/>
              </a:spcAft>
              <a:defRPr sz="1950" b="1">
                <a:solidFill>
                  <a:srgbClr val="2020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1" i="0">
                <a:solidFill>
                  <a:srgbClr val="1F4E79"/>
                </a:solidFill>
                <a:latin typeface="Aptos"/>
              </a:rPr>
              <a:t>MINI-PROJECT PRESENTATION  |  LABORATORY CONTINUOUS ASSESSMENT 3</a:t>
            </a:r>
            <a:endParaRPr sz="1200" b="1" i="0">
              <a:solidFill>
                <a:srgbClr val="1F4E79"/>
              </a:solidFill>
              <a:latin typeface="Aptos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23875" y="31432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6576" tIns="27432" rIns="36576" bIns="27432" anchor="ctr"/>
          <a:lstStyle>
            <a:defPPr>
              <a:defRPr sz="1650" b="0">
                <a:solidFill>
                  <a:srgbClr val="2020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</a:lstStyle>
          <a:p>
            <a:pPr algn="ctr">
              <a:spcBef>
                <a:spcPts val="0"/>
              </a:spcBef>
              <a:spcAft>
                <a:spcPts val="300"/>
              </a:spcAft>
              <a:defRPr sz="1650" b="0">
                <a:solidFill>
                  <a:srgbClr val="2020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 i="0">
                <a:solidFill>
                  <a:srgbClr val="1F4E79"/>
                </a:solidFill>
                <a:latin typeface="Aptos"/>
              </a:rPr>
              <a:t>Computer Networks Laboratory (CSE20110)</a:t>
            </a:r>
            <a:endParaRPr sz="1500" b="0" i="0">
              <a:solidFill>
                <a:srgbClr val="1F4E79"/>
              </a:solidFill>
              <a:latin typeface="Aptos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1F4E79"/>
                </a:solidFill>
                <a:latin typeface="Aptos"/>
              </a:rPr>
              <a:t>Department of Computer Engineering and Technology</a:t>
            </a:r>
            <a:endParaRPr sz="1500" b="0" i="0">
              <a:solidFill>
                <a:srgbClr val="1F4E79"/>
              </a:solidFill>
              <a:latin typeface="Aptos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23875" y="4015740"/>
            <a:ext cx="8096250" cy="95313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36576" tIns="27432" rIns="36576" bIns="27432" anchor="ctr"/>
          <a:lstStyle>
            <a:defPPr>
              <a:defRPr sz="1575" b="0">
                <a:solidFill>
                  <a:srgbClr val="2020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</a:lstStyle>
          <a:p>
            <a:pPr algn="ctr">
              <a:spcBef>
                <a:spcPts val="0"/>
              </a:spcBef>
              <a:spcAft>
                <a:spcPts val="300"/>
              </a:spcAft>
              <a:defRPr sz="1575" b="0">
                <a:solidFill>
                  <a:srgbClr val="2020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00" b="0" i="0">
                <a:solidFill>
                  <a:srgbClr val="000000"/>
                </a:solidFill>
                <a:latin typeface="Aptos"/>
              </a:rPr>
              <a:t>Ishita Lodha  –  1262242134       </a:t>
            </a:r>
            <a:endParaRPr sz="1100" b="0" i="0">
              <a:solidFill>
                <a:srgbClr val="000000"/>
              </a:solidFill>
              <a:latin typeface="Aptos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  <a:defRPr sz="1575" b="0">
                <a:solidFill>
                  <a:srgbClr val="2020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00" b="0" i="0">
                <a:solidFill>
                  <a:srgbClr val="000000"/>
                </a:solidFill>
                <a:latin typeface="Aptos"/>
              </a:rPr>
              <a:t>Harshada Suryawanshi  –  1272250822</a:t>
            </a:r>
            <a:endParaRPr sz="1100" b="0" i="0">
              <a:solidFill>
                <a:srgbClr val="000000"/>
              </a:solidFill>
              <a:latin typeface="Aptos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000000"/>
                </a:solidFill>
                <a:latin typeface="Aptos"/>
              </a:rPr>
              <a:t>Tanushree Balote  –  1272250799 </a:t>
            </a:r>
            <a:endParaRPr sz="1100" b="0" i="0">
              <a:solidFill>
                <a:srgbClr val="000000"/>
              </a:solidFill>
              <a:latin typeface="Aptos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000000"/>
                </a:solidFill>
                <a:latin typeface="Aptos"/>
              </a:rPr>
              <a:t>      Satyam Jha  –  1262240703</a:t>
            </a:r>
            <a:endParaRPr sz="1100" b="0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23875" y="5095875"/>
            <a:ext cx="8096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6576" tIns="27432" rIns="36576" bIns="27432" anchor="ctr"/>
          <a:lstStyle>
            <a:defPPr>
              <a:defRPr sz="1500" b="0">
                <a:solidFill>
                  <a:srgbClr val="2020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</a:lstStyle>
          <a:p>
            <a:pPr algn="ctr"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2020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00" b="0" i="0">
                <a:solidFill>
                  <a:srgbClr val="000000"/>
                </a:solidFill>
                <a:latin typeface="Aptos"/>
              </a:rPr>
              <a:t>  •   Panel J   •   Batch J1</a:t>
            </a:r>
            <a:endParaRPr sz="1000" b="0" i="0">
              <a:solidFill>
                <a:srgbClr val="000000"/>
              </a:solidFill>
              <a:latin typeface="Aptos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ptos"/>
              </a:rPr>
              <a:t>Faculty: Dr. Uma Pujeri</a:t>
            </a:r>
            <a:endParaRPr sz="1000" b="0" i="0">
              <a:solidFill>
                <a:srgbClr val="000000"/>
              </a:solidFill>
              <a:latin typeface="Aptos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ptos"/>
              </a:rPr>
              <a:t>Third Year B.Tech. Computer Engineering and Technology</a:t>
            </a:r>
            <a:endParaRPr sz="1000" b="0" i="0">
              <a:solidFill>
                <a:srgbClr val="000000"/>
              </a:solidFill>
              <a:latin typeface="Aptos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ptos"/>
              </a:rPr>
              <a:t>Academic Year: 2026–2027   </a:t>
            </a:r>
            <a:endParaRPr sz="1000" b="0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21207" y="1344168"/>
            <a:ext cx="960120" cy="64008"/>
          </a:xfrm>
          <a:prstGeom prst="rect">
            <a:avLst/>
          </a:prstGeom>
          <a:solidFill>
            <a:srgbClr val="1F4E79"/>
          </a:solidFill>
          <a:ln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0" y="1344168"/>
            <a:ext cx="960120" cy="64008"/>
          </a:xfrm>
          <a:prstGeom prst="rect">
            <a:avLst/>
          </a:prstGeom>
          <a:solidFill>
            <a:srgbClr val="1F4E79"/>
          </a:solidFill>
          <a:ln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1207" y="6144768"/>
            <a:ext cx="8092440" cy="32004"/>
          </a:xfrm>
          <a:prstGeom prst="rect">
            <a:avLst/>
          </a:prstGeom>
          <a:solidFill>
            <a:srgbClr val="E2ECF7"/>
          </a:solidFill>
          <a:ln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6576" tIns="27432" rIns="36576" bIns="27432" anchor="ctr"/>
          <a:lstStyle>
            <a:defPPr>
              <a:defRPr sz="2550" b="1">
                <a:solidFill>
                  <a:srgbClr val="2037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</a:lstStyle>
          <a:p>
            <a:pPr algn="l">
              <a:spcBef>
                <a:spcPts val="0"/>
              </a:spcBef>
              <a:spcAft>
                <a:spcPts val="500"/>
              </a:spcAft>
              <a:defRPr sz="2550" b="1">
                <a:solidFill>
                  <a:srgbClr val="2037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600" b="1" i="0">
                <a:solidFill>
                  <a:srgbClr val="1F4E79"/>
                </a:solidFill>
                <a:latin typeface="Aptos"/>
              </a:rPr>
              <a:t>Problem and Objectives</a:t>
            </a:r>
            <a:endParaRPr sz="2600" b="1" i="0">
              <a:solidFill>
                <a:srgbClr val="1F4E79"/>
              </a:solidFill>
              <a:latin typeface="Aptos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6576" tIns="27432" rIns="36576" bIns="27432" anchor="ctr"/>
          <a:lstStyle>
            <a:defPPr>
              <a:defRPr sz="1125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</a:lstStyle>
          <a:p>
            <a:pPr algn="l">
              <a:spcBef>
                <a:spcPts val="0"/>
              </a:spcBef>
              <a:spcAft>
                <a:spcPts val="300"/>
              </a:spcAft>
              <a:defRPr sz="1125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 i="0">
                <a:solidFill>
                  <a:srgbClr val="000000"/>
                </a:solidFill>
                <a:latin typeface="Aptos"/>
              </a:rPr>
              <a:t>Computer Networks Laboratory  •  CSE20110</a:t>
            </a:r>
            <a:endParaRPr sz="900" b="0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523875" y="1333500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6576" tIns="27432" rIns="36576" bIns="27432" anchor="ctr"/>
          <a:lstStyle>
            <a:defPPr>
              <a:defRPr sz="1800" b="1">
                <a:solidFill>
                  <a:srgbClr val="2020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</a:lstStyle>
          <a:p>
            <a:pPr algn="l"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020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 i="0">
                <a:solidFill>
                  <a:srgbClr val="000000"/>
                </a:solidFill>
                <a:latin typeface="Aptos"/>
              </a:rPr>
              <a:t>Problem</a:t>
            </a:r>
            <a:endParaRPr sz="1500" b="1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523875" y="1809750"/>
            <a:ext cx="8096250" cy="1158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5720" tIns="27432" rIns="45720" bIns="27432" anchor="t"/>
          <a:lstStyle>
            <a:defPPr>
              <a:defRPr sz="1800" b="0">
                <a:solidFill>
                  <a:srgbClr val="2020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</a:lstStyle>
          <a:p>
            <a:pPr algn="l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020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00" b="0" i="0">
                <a:solidFill>
                  <a:srgbClr val="000000"/>
                </a:solidFill>
                <a:latin typeface="Aptos"/>
              </a:rPr>
              <a:t>Manual, one-host-at-a-time checks make it difficult to compare multiple endpoints and review incidents in one place.</a:t>
            </a:r>
            <a:endParaRPr sz="1400" b="0" i="0">
              <a:solidFill>
                <a:srgbClr val="00000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Aptos"/>
              </a:rPr>
              <a:t>The project brings reachability, TCP service checks, diagnostics and incident information into a periodically refreshed dashboard.</a:t>
            </a:r>
            <a:endParaRPr sz="1400" b="0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23875" y="3190875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6576" tIns="27432" rIns="36576" bIns="27432" anchor="ctr"/>
          <a:lstStyle>
            <a:defPPr>
              <a:defRPr sz="1800" b="1">
                <a:solidFill>
                  <a:srgbClr val="2020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</a:lstStyle>
          <a:p>
            <a:pPr algn="l"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020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 i="0">
                <a:solidFill>
                  <a:srgbClr val="000000"/>
                </a:solidFill>
                <a:latin typeface="Aptos"/>
              </a:rPr>
              <a:t>Objectives</a:t>
            </a:r>
            <a:endParaRPr sz="1500" b="1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23875" y="3714750"/>
            <a:ext cx="8096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5720" tIns="27432" rIns="45720" bIns="27432" anchor="t"/>
          <a:lstStyle>
            <a:defPPr>
              <a:defRPr sz="1800" b="0">
                <a:solidFill>
                  <a:srgbClr val="2020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</a:lstStyle>
          <a:p>
            <a:pPr algn="l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020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00" b="0" i="0">
                <a:solidFill>
                  <a:srgbClr val="000000"/>
                </a:solidFill>
                <a:latin typeface="Aptos"/>
              </a:rPr>
              <a:t>1. Present configured endpoint and TCP service status in one Flask dashboard.</a:t>
            </a:r>
            <a:endParaRPr sz="1300" b="0" i="0">
              <a:solidFill>
                <a:srgbClr val="00000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000000"/>
                </a:solidFill>
                <a:latin typeface="Aptos"/>
              </a:rPr>
              <a:t>2. Apply a two-consecutive-failure threshold before confirming a host outage.</a:t>
            </a:r>
            <a:endParaRPr sz="1300" b="0" i="0">
              <a:solidFill>
                <a:srgbClr val="00000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000000"/>
                </a:solidFill>
                <a:latin typeface="Aptos"/>
              </a:rPr>
              <a:t>3. Store incident history, generate charts and display imported Packet Tracer results.</a:t>
            </a:r>
            <a:endParaRPr sz="1300" b="0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21207" y="1115568"/>
            <a:ext cx="1051560" cy="50292"/>
          </a:xfrm>
          <a:prstGeom prst="rect">
            <a:avLst/>
          </a:prstGeom>
          <a:solidFill>
            <a:srgbClr val="1F4E79"/>
          </a:solidFill>
          <a:ln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72768" y="1115568"/>
            <a:ext cx="438912" cy="50292"/>
          </a:xfrm>
          <a:prstGeom prst="rect">
            <a:avLst/>
          </a:prstGeom>
          <a:solidFill>
            <a:srgbClr val="1F4E79"/>
          </a:solidFill>
          <a:ln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11680" y="1115568"/>
            <a:ext cx="292608" cy="50292"/>
          </a:xfrm>
          <a:prstGeom prst="rect">
            <a:avLst/>
          </a:prstGeom>
          <a:solidFill>
            <a:srgbClr val="1F4E79"/>
          </a:solidFill>
          <a:ln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1207" y="2852928"/>
            <a:ext cx="8092440" cy="32004"/>
          </a:xfrm>
          <a:prstGeom prst="rect">
            <a:avLst/>
          </a:prstGeom>
          <a:solidFill>
            <a:srgbClr val="E2ECF7"/>
          </a:solidFill>
          <a:ln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448056"/>
            <a:ext cx="731520" cy="22860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000000"/>
                </a:solidFill>
                <a:latin typeface="Aptos"/>
              </a:rPr>
              <a:t>02 / 08</a:t>
            </a:r>
            <a:endParaRPr sz="850" b="1" i="0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6576" tIns="27432" rIns="36576" bIns="27432" anchor="ctr"/>
          <a:lstStyle>
            <a:defPPr>
              <a:defRPr sz="2550" b="1">
                <a:solidFill>
                  <a:srgbClr val="2037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</a:lstStyle>
          <a:p>
            <a:pPr algn="l">
              <a:spcBef>
                <a:spcPts val="0"/>
              </a:spcBef>
              <a:spcAft>
                <a:spcPts val="500"/>
              </a:spcAft>
              <a:defRPr sz="2550" b="1">
                <a:solidFill>
                  <a:srgbClr val="2037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600" b="1" i="0">
                <a:solidFill>
                  <a:srgbClr val="1F4E79"/>
                </a:solidFill>
                <a:latin typeface="Aptos"/>
              </a:rPr>
              <a:t>Proposed Design and Tools</a:t>
            </a:r>
            <a:endParaRPr sz="2600" b="1" i="0">
              <a:solidFill>
                <a:srgbClr val="1F4E79"/>
              </a:solidFill>
              <a:latin typeface="Aptos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6576" tIns="27432" rIns="36576" bIns="27432" anchor="ctr"/>
          <a:lstStyle>
            <a:defPPr>
              <a:defRPr sz="1125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</a:lstStyle>
          <a:p>
            <a:pPr algn="l">
              <a:spcBef>
                <a:spcPts val="0"/>
              </a:spcBef>
              <a:spcAft>
                <a:spcPts val="300"/>
              </a:spcAft>
              <a:defRPr sz="1125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 i="0">
                <a:solidFill>
                  <a:srgbClr val="000000"/>
                </a:solidFill>
                <a:latin typeface="Aptos"/>
              </a:rPr>
              <a:t>Computer Networks Laboratory  •  CSE20110</a:t>
            </a:r>
            <a:endParaRPr sz="900" b="0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523875" y="1428750"/>
            <a:ext cx="8096250" cy="2238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4864" tIns="27432" rIns="54864" bIns="27432" anchor="ctr"/>
          <a:lstStyle>
            <a:defPPr>
              <a:defRPr sz="1950" b="0">
                <a:solidFill>
                  <a:srgbClr val="66666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</a:lstStyle>
          <a:p>
            <a:pPr algn="l">
              <a:spcBef>
                <a:spcPts val="0"/>
              </a:spcBef>
              <a:spcAft>
                <a:spcPts val="300"/>
              </a:spcAft>
              <a:defRPr sz="1950" b="0">
                <a:solidFill>
                  <a:srgbClr val="66666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523875" y="4095750"/>
            <a:ext cx="8096250" cy="147637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45720" tIns="27432" rIns="45720" bIns="27432" anchor="t"/>
          <a:lstStyle>
            <a:defPPr>
              <a:defRPr sz="1800" b="0">
                <a:solidFill>
                  <a:srgbClr val="2020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</a:lstStyle>
          <a:p>
            <a:pPr algn="l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020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 i="0">
                <a:solidFill>
                  <a:srgbClr val="000000"/>
                </a:solidFill>
                <a:latin typeface="Aptos"/>
              </a:rPr>
              <a:t>Tools: Python 3.13.3, Flask 3.1.3, SQLite 3.49.1, Matplotlib 3.11.2, Cisco Packet Tracer</a:t>
            </a:r>
            <a:endParaRPr sz="1050" b="0" i="0">
              <a:solidFill>
                <a:srgbClr val="00000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020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endParaRPr sz="1050" b="0" i="0">
              <a:solidFill>
                <a:srgbClr val="00000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000000"/>
                </a:solidFill>
                <a:latin typeface="Aptos"/>
              </a:rPr>
              <a:t>Protocols: ICMP ping for reachability; TCP connection attempts for configured service ports</a:t>
            </a:r>
            <a:endParaRPr sz="1050" b="0" i="0">
              <a:solidFill>
                <a:srgbClr val="00000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endParaRPr sz="1050" b="0" i="0">
              <a:solidFill>
                <a:srgbClr val="00000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000000"/>
                </a:solidFill>
                <a:latin typeface="Aptos"/>
              </a:rPr>
              <a:t>Addressing: Public endpoints include 8.8.8.8, 1.1.1.1, google.com and cloudflare.com; failure-test address 192.0.2.1</a:t>
            </a:r>
            <a:endParaRPr sz="1050" b="0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21207" y="1115568"/>
            <a:ext cx="1051560" cy="50292"/>
          </a:xfrm>
          <a:prstGeom prst="rect">
            <a:avLst/>
          </a:prstGeom>
          <a:solidFill>
            <a:srgbClr val="1F4E79"/>
          </a:solidFill>
          <a:ln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72768" y="1115568"/>
            <a:ext cx="438912" cy="50292"/>
          </a:xfrm>
          <a:prstGeom prst="rect">
            <a:avLst/>
          </a:prstGeom>
          <a:solidFill>
            <a:srgbClr val="1F4E79"/>
          </a:solidFill>
          <a:ln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0" y="1115568"/>
            <a:ext cx="292608" cy="50292"/>
          </a:xfrm>
          <a:prstGeom prst="rect">
            <a:avLst/>
          </a:prstGeom>
          <a:solidFill>
            <a:srgbClr val="1F4E79"/>
          </a:solidFill>
          <a:ln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98448"/>
            <a:ext cx="7955279" cy="292608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00000"/>
                </a:solidFill>
                <a:latin typeface="Aptos"/>
              </a:rPr>
              <a:t>SYSTEM ARCHITECTURE  •  SINGLE-HOST CLIENT–SERVER DESIGN</a:t>
            </a:r>
            <a:endParaRPr sz="1100" b="1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94360" y="1755648"/>
            <a:ext cx="150876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1755648"/>
            <a:ext cx="82296" cy="1005840"/>
          </a:xfrm>
          <a:prstGeom prst="rect">
            <a:avLst/>
          </a:prstGeom>
          <a:solidFill>
            <a:srgbClr val="1F4E79"/>
          </a:solidFill>
          <a:ln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828800"/>
            <a:ext cx="1234439" cy="27432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00000"/>
                </a:solidFill>
                <a:latin typeface="Aptos"/>
              </a:rPr>
              <a:t>1  Configure</a:t>
            </a:r>
            <a:endParaRPr sz="1200" b="1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58952" y="2121408"/>
            <a:ext cx="1234439" cy="56692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000000"/>
                </a:solidFill>
                <a:latin typeface="Aptos"/>
              </a:rPr>
              <a:t>devices.json</a:t>
            </a:r>
            <a:endParaRPr sz="1050" b="0" i="0">
              <a:solidFill>
                <a:srgbClr val="00000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000000"/>
                </a:solidFill>
                <a:latin typeface="Aptos"/>
              </a:rPr>
              <a:t>Host + TCP ports</a:t>
            </a:r>
            <a:endParaRPr sz="1050" b="0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423160" y="1755648"/>
            <a:ext cx="150876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1755648"/>
            <a:ext cx="82296" cy="1005840"/>
          </a:xfrm>
          <a:prstGeom prst="rect">
            <a:avLst/>
          </a:prstGeom>
          <a:solidFill>
            <a:srgbClr val="1F4E79"/>
          </a:solidFill>
          <a:ln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87752" y="1828800"/>
            <a:ext cx="1234439" cy="27432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00000"/>
                </a:solidFill>
                <a:latin typeface="Aptos"/>
              </a:rPr>
              <a:t>2  Monitor</a:t>
            </a:r>
            <a:endParaRPr sz="1200" b="1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587752" y="2121408"/>
            <a:ext cx="1234439" cy="56692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000000"/>
                </a:solidFill>
                <a:latin typeface="Aptos"/>
              </a:rPr>
              <a:t>ping utility</a:t>
            </a:r>
            <a:endParaRPr sz="1050" b="0" i="0">
              <a:solidFill>
                <a:srgbClr val="00000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000000"/>
                </a:solidFill>
                <a:latin typeface="Aptos"/>
              </a:rPr>
              <a:t>Python TCP sockets</a:t>
            </a:r>
            <a:endParaRPr sz="1050" b="0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251960" y="1755648"/>
            <a:ext cx="150876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1960" y="1755648"/>
            <a:ext cx="82296" cy="1005840"/>
          </a:xfrm>
          <a:prstGeom prst="rect">
            <a:avLst/>
          </a:prstGeom>
          <a:solidFill>
            <a:srgbClr val="1F4E79"/>
          </a:solidFill>
          <a:ln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6552" y="1828800"/>
            <a:ext cx="1234439" cy="27432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00000"/>
                </a:solidFill>
                <a:latin typeface="Aptos"/>
              </a:rPr>
              <a:t>3  Diagnose</a:t>
            </a:r>
            <a:endParaRPr sz="1200" b="1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416552" y="2121408"/>
            <a:ext cx="1234439" cy="56692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000000"/>
                </a:solidFill>
                <a:latin typeface="Aptos"/>
              </a:rPr>
              <a:t>Failure threshold</a:t>
            </a:r>
            <a:endParaRPr sz="1050" b="0" i="0">
              <a:solidFill>
                <a:srgbClr val="00000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000000"/>
                </a:solidFill>
                <a:latin typeface="Aptos"/>
              </a:rPr>
              <a:t>Service diagnosis</a:t>
            </a:r>
            <a:endParaRPr sz="1050" b="0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080760" y="1755648"/>
            <a:ext cx="196596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80760" y="1755648"/>
            <a:ext cx="82296" cy="1005840"/>
          </a:xfrm>
          <a:prstGeom prst="rect">
            <a:avLst/>
          </a:prstGeom>
          <a:solidFill>
            <a:srgbClr val="1F4E79"/>
          </a:solidFill>
          <a:ln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2" y="1828800"/>
            <a:ext cx="1691639" cy="27432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00000"/>
                </a:solidFill>
                <a:latin typeface="Aptos"/>
              </a:rPr>
              <a:t>4  Present</a:t>
            </a:r>
            <a:endParaRPr sz="1200" b="1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45352" y="2121408"/>
            <a:ext cx="1691639" cy="56692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000000"/>
                </a:solidFill>
                <a:latin typeface="Aptos"/>
              </a:rPr>
              <a:t>Flask dashboard</a:t>
            </a:r>
            <a:endParaRPr sz="1050" b="0" i="0">
              <a:solidFill>
                <a:srgbClr val="00000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000000"/>
                </a:solidFill>
                <a:latin typeface="Aptos"/>
              </a:rPr>
              <a:t>Charts + incidents</a:t>
            </a:r>
            <a:endParaRPr sz="1050" b="0" i="0">
              <a:solidFill>
                <a:srgbClr val="000000"/>
              </a:solidFill>
              <a:latin typeface="Aptos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2103120" y="2249424"/>
            <a:ext cx="283464" cy="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931920" y="2249424"/>
            <a:ext cx="283464" cy="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60720" y="2249424"/>
            <a:ext cx="283464" cy="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14400" y="3017520"/>
            <a:ext cx="205740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400" y="3017520"/>
            <a:ext cx="82296" cy="658368"/>
          </a:xfrm>
          <a:prstGeom prst="rect">
            <a:avLst/>
          </a:prstGeom>
          <a:solidFill>
            <a:srgbClr val="1F4E79"/>
          </a:solidFill>
          <a:ln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8992" y="3090672"/>
            <a:ext cx="1783080" cy="27432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00000"/>
                </a:solidFill>
                <a:latin typeface="Aptos"/>
              </a:rPr>
              <a:t>History</a:t>
            </a:r>
            <a:endParaRPr sz="1200" b="1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78992" y="3383279"/>
            <a:ext cx="178308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ptos"/>
              </a:rPr>
              <a:t>CSV measurements</a:t>
            </a:r>
            <a:endParaRPr sz="1000" b="0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3520440" y="3017520"/>
            <a:ext cx="205740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20440" y="3017520"/>
            <a:ext cx="82296" cy="658368"/>
          </a:xfrm>
          <a:prstGeom prst="rect">
            <a:avLst/>
          </a:prstGeom>
          <a:solidFill>
            <a:srgbClr val="1F4E79"/>
          </a:solidFill>
          <a:ln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85032" y="3090672"/>
            <a:ext cx="1783080" cy="27432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00000"/>
                </a:solidFill>
                <a:latin typeface="Aptos"/>
              </a:rPr>
              <a:t>Incident store</a:t>
            </a:r>
            <a:endParaRPr sz="1200" b="1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685032" y="3383279"/>
            <a:ext cx="178308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ptos"/>
              </a:rPr>
              <a:t>SQLite outage records</a:t>
            </a:r>
            <a:endParaRPr sz="1000" b="0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126480" y="3017520"/>
            <a:ext cx="192024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26480" y="3017520"/>
            <a:ext cx="82296" cy="658368"/>
          </a:xfrm>
          <a:prstGeom prst="rect">
            <a:avLst/>
          </a:prstGeom>
          <a:solidFill>
            <a:srgbClr val="1F4E79"/>
          </a:solidFill>
          <a:ln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91072" y="3090672"/>
            <a:ext cx="1645920" cy="27432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00000"/>
                </a:solidFill>
                <a:latin typeface="Aptos"/>
              </a:rPr>
              <a:t>Simulation input</a:t>
            </a:r>
            <a:endParaRPr sz="1200" b="1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291072" y="3383279"/>
            <a:ext cx="1645920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ptos"/>
              </a:rPr>
              <a:t>Packet Tracer CSV</a:t>
            </a:r>
            <a:endParaRPr sz="1000" b="0" i="0">
              <a:solidFill>
                <a:srgbClr val="000000"/>
              </a:solidFill>
              <a:latin typeface="Aptos"/>
            </a:endParaRPr>
          </a:p>
        </p:txBody>
      </p:sp>
      <p:cxnSp>
        <p:nvCxnSpPr>
          <p:cNvPr id="42" name="Connector 41"/>
          <p:cNvCxnSpPr/>
          <p:nvPr/>
        </p:nvCxnSpPr>
        <p:spPr>
          <a:xfrm flipH="1">
            <a:off x="1965960" y="2761488"/>
            <a:ext cx="3044952" cy="219456"/>
          </a:xfrm>
          <a:prstGeom prst="line">
            <a:avLst/>
          </a:prstGeom>
          <a:ln w="1778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4526280" y="2761488"/>
            <a:ext cx="484632" cy="219456"/>
          </a:xfrm>
          <a:prstGeom prst="line">
            <a:avLst/>
          </a:prstGeom>
          <a:ln w="1778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059168" y="2761488"/>
            <a:ext cx="0" cy="219456"/>
          </a:xfrm>
          <a:prstGeom prst="line">
            <a:avLst/>
          </a:prstGeom>
          <a:ln w="1778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818120" y="448056"/>
            <a:ext cx="731520" cy="22860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000000"/>
                </a:solidFill>
                <a:latin typeface="Aptos"/>
              </a:rPr>
              <a:t>03 / 08</a:t>
            </a:r>
            <a:endParaRPr sz="850" b="1" i="0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6576" tIns="27432" rIns="36576" bIns="27432" anchor="ctr"/>
          <a:lstStyle>
            <a:defPPr>
              <a:defRPr sz="2550" b="1">
                <a:solidFill>
                  <a:srgbClr val="2037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</a:lstStyle>
          <a:p>
            <a:pPr algn="l">
              <a:spcBef>
                <a:spcPts val="0"/>
              </a:spcBef>
              <a:spcAft>
                <a:spcPts val="500"/>
              </a:spcAft>
              <a:defRPr sz="2550" b="1">
                <a:solidFill>
                  <a:srgbClr val="2037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600" b="1" i="0">
                <a:solidFill>
                  <a:srgbClr val="1F4E79"/>
                </a:solidFill>
                <a:latin typeface="Aptos"/>
              </a:rPr>
              <a:t>Implementation and Working</a:t>
            </a:r>
            <a:endParaRPr sz="2600" b="1" i="0">
              <a:solidFill>
                <a:srgbClr val="1F4E79"/>
              </a:solidFill>
              <a:latin typeface="Aptos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6576" tIns="27432" rIns="36576" bIns="27432" anchor="ctr"/>
          <a:lstStyle>
            <a:defPPr>
              <a:defRPr sz="1125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</a:lstStyle>
          <a:p>
            <a:pPr algn="l">
              <a:spcBef>
                <a:spcPts val="0"/>
              </a:spcBef>
              <a:spcAft>
                <a:spcPts val="300"/>
              </a:spcAft>
              <a:defRPr sz="1125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 i="0">
                <a:solidFill>
                  <a:srgbClr val="000000"/>
                </a:solidFill>
                <a:latin typeface="Aptos"/>
              </a:rPr>
              <a:t>Computer Networks Laboratory  •  CSE20110</a:t>
            </a:r>
            <a:endParaRPr sz="900" b="0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523875" y="1428750"/>
            <a:ext cx="8096250" cy="2143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4864" tIns="27432" rIns="54864" bIns="27432" anchor="ctr"/>
          <a:lstStyle>
            <a:defPPr>
              <a:defRPr sz="1950" b="0">
                <a:solidFill>
                  <a:srgbClr val="66666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</a:lstStyle>
          <a:p>
            <a:pPr algn="l">
              <a:spcBef>
                <a:spcPts val="0"/>
              </a:spcBef>
              <a:spcAft>
                <a:spcPts val="300"/>
              </a:spcAft>
              <a:defRPr sz="1950" b="0">
                <a:solidFill>
                  <a:srgbClr val="66666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523875" y="4095750"/>
            <a:ext cx="8096250" cy="157162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45720" tIns="27432" rIns="45720" bIns="27432" anchor="t"/>
          <a:lstStyle>
            <a:defPPr>
              <a:defRPr sz="1800" b="0">
                <a:solidFill>
                  <a:srgbClr val="2020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</a:lstStyle>
          <a:p>
            <a:pPr algn="l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020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 i="0">
                <a:solidFill>
                  <a:srgbClr val="000000"/>
                </a:solidFill>
                <a:latin typeface="Aptos"/>
              </a:rPr>
              <a:t>Implementation: app.py coordinates monitor.py, fault_diagnosis.py, service_diagnosis.py, history.py, charts.py and incident_history.py.</a:t>
            </a:r>
            <a:endParaRPr sz="1050" b="0" i="0">
              <a:solidFill>
                <a:srgbClr val="00000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020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endParaRPr sz="1050" b="0" i="0">
              <a:solidFill>
                <a:srgbClr val="00000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020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 i="0">
                <a:solidFill>
                  <a:srgbClr val="000000"/>
                </a:solidFill>
                <a:latin typeface="Aptos"/>
              </a:rPr>
              <a:t>Working: endpoint configuration → ICMP/TCP checks → diagnosis → CSV/SQLite records and charts → Flask-rendered dashboard.</a:t>
            </a:r>
            <a:endParaRPr sz="1050" b="0" i="0">
              <a:solidFill>
                <a:srgbClr val="00000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020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endParaRPr sz="1050" b="0" i="0">
              <a:solidFill>
                <a:srgbClr val="00000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000000"/>
                </a:solidFill>
                <a:latin typeface="Aptos"/>
              </a:rPr>
              <a:t>Troubleshooting: DEMO_MODE = True randomizes dashboard ICMP status, latency and packet-loss values; live ICMP validation is still required. TCP checks are still attempted.</a:t>
            </a:r>
            <a:endParaRPr sz="1050" b="0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21207" y="1115568"/>
            <a:ext cx="1051560" cy="50292"/>
          </a:xfrm>
          <a:prstGeom prst="rect">
            <a:avLst/>
          </a:prstGeom>
          <a:solidFill>
            <a:srgbClr val="1F4E79"/>
          </a:solidFill>
          <a:ln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72768" y="1115568"/>
            <a:ext cx="438912" cy="50292"/>
          </a:xfrm>
          <a:prstGeom prst="rect">
            <a:avLst/>
          </a:prstGeom>
          <a:solidFill>
            <a:srgbClr val="1F4E79"/>
          </a:solidFill>
          <a:ln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0" y="1115568"/>
            <a:ext cx="292608" cy="50292"/>
          </a:xfrm>
          <a:prstGeom prst="rect">
            <a:avLst/>
          </a:prstGeom>
          <a:solidFill>
            <a:srgbClr val="1F4E79"/>
          </a:solidFill>
          <a:ln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98448"/>
            <a:ext cx="7955279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00000"/>
                </a:solidFill>
                <a:latin typeface="Aptos"/>
              </a:rPr>
              <a:t>REQUEST-DRIVEN MONITORING WORKFLOW</a:t>
            </a:r>
            <a:endParaRPr sz="1100" b="1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1280160" cy="713232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1883664"/>
            <a:ext cx="1170432" cy="585216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chemeClr val="bg1"/>
                </a:solidFill>
                <a:latin typeface="Aptos"/>
              </a:rPr>
              <a:t>Load</a:t>
            </a:r>
            <a:endParaRPr sz="1050" b="1" i="0">
              <a:solidFill>
                <a:schemeClr val="bg1"/>
              </a:solidFill>
              <a:latin typeface="Aptos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chemeClr val="bg1"/>
                </a:solidFill>
                <a:latin typeface="Aptos"/>
              </a:rPr>
              <a:t>configuration</a:t>
            </a:r>
            <a:endParaRPr sz="1050" b="1" i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194560" y="1828800"/>
            <a:ext cx="1280160" cy="713232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49424" y="1883664"/>
            <a:ext cx="1170432" cy="585216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chemeClr val="bg1"/>
                </a:solidFill>
                <a:latin typeface="Aptos"/>
              </a:rPr>
              <a:t>Ping + TCP</a:t>
            </a:r>
            <a:endParaRPr sz="1050" b="1" i="0">
              <a:solidFill>
                <a:schemeClr val="bg1"/>
              </a:solidFill>
              <a:latin typeface="Aptos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chemeClr val="bg1"/>
                </a:solidFill>
                <a:latin typeface="Aptos"/>
              </a:rPr>
              <a:t>checks</a:t>
            </a:r>
            <a:endParaRPr sz="1050" b="1" i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794760" y="1828800"/>
            <a:ext cx="1280160" cy="713232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9624" y="1883664"/>
            <a:ext cx="1170432" cy="585216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chemeClr val="bg1"/>
                </a:solidFill>
                <a:latin typeface="Aptos"/>
              </a:rPr>
              <a:t>Diagnose</a:t>
            </a:r>
            <a:endParaRPr sz="1050" b="1" i="0">
              <a:solidFill>
                <a:schemeClr val="bg1"/>
              </a:solidFill>
              <a:latin typeface="Aptos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chemeClr val="bg1"/>
                </a:solidFill>
                <a:latin typeface="Aptos"/>
              </a:rPr>
              <a:t>failures</a:t>
            </a:r>
            <a:endParaRPr sz="1050" b="1" i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394960" y="1828800"/>
            <a:ext cx="1280160" cy="713232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49824" y="1883664"/>
            <a:ext cx="1170432" cy="585216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chemeClr val="bg1"/>
                </a:solidFill>
                <a:latin typeface="Aptos"/>
              </a:rPr>
              <a:t>Save history</a:t>
            </a:r>
            <a:endParaRPr sz="1050" b="1" i="0">
              <a:solidFill>
                <a:schemeClr val="bg1"/>
              </a:solidFill>
              <a:latin typeface="Aptos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chemeClr val="bg1"/>
                </a:solidFill>
                <a:latin typeface="Aptos"/>
              </a:rPr>
              <a:t>+ incidents</a:t>
            </a:r>
            <a:endParaRPr sz="1050" b="1" i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995160" y="1828800"/>
            <a:ext cx="1280160" cy="713232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50024" y="1883664"/>
            <a:ext cx="1170432" cy="585216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chemeClr val="bg1"/>
                </a:solidFill>
                <a:latin typeface="Aptos"/>
              </a:rPr>
              <a:t>Render</a:t>
            </a:r>
            <a:endParaRPr sz="1050" b="1" i="0">
              <a:solidFill>
                <a:schemeClr val="bg1"/>
              </a:solidFill>
              <a:latin typeface="Aptos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chemeClr val="bg1"/>
                </a:solidFill>
                <a:latin typeface="Aptos"/>
              </a:rPr>
              <a:t> dashboard</a:t>
            </a:r>
            <a:endParaRPr sz="1050" b="1" i="0">
              <a:solidFill>
                <a:schemeClr val="bg1"/>
              </a:solidFill>
              <a:latin typeface="Aptos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1892807" y="2185416"/>
            <a:ext cx="265177" cy="0"/>
          </a:xfrm>
          <a:prstGeom prst="line">
            <a:avLst/>
          </a:prstGeom>
          <a:ln w="1905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493008" y="2185416"/>
            <a:ext cx="265176" cy="0"/>
          </a:xfrm>
          <a:prstGeom prst="line">
            <a:avLst/>
          </a:prstGeom>
          <a:ln w="1905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93208" y="2185416"/>
            <a:ext cx="265176" cy="0"/>
          </a:xfrm>
          <a:prstGeom prst="line">
            <a:avLst/>
          </a:prstGeom>
          <a:ln w="1905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693408" y="2185416"/>
            <a:ext cx="265176" cy="0"/>
          </a:xfrm>
          <a:prstGeom prst="line">
            <a:avLst/>
          </a:prstGeom>
          <a:ln w="1905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0080" y="2724912"/>
            <a:ext cx="7863840" cy="34747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00000"/>
                </a:solidFill>
                <a:latin typeface="Aptos"/>
              </a:rPr>
              <a:t>Dashboard refresh: every 10 seconds  •  Host outage confirmed after 2 consecutive DOWN checks</a:t>
            </a:r>
            <a:endParaRPr sz="1050" b="1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818120" y="448056"/>
            <a:ext cx="731520" cy="22860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000000"/>
                </a:solidFill>
                <a:latin typeface="Aptos"/>
              </a:rPr>
              <a:t>04 / 08</a:t>
            </a:r>
            <a:endParaRPr sz="850" b="1" i="0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6576" tIns="27432" rIns="36576" bIns="27432" anchor="ctr"/>
          <a:lstStyle>
            <a:defPPr>
              <a:defRPr sz="2550" b="1">
                <a:solidFill>
                  <a:srgbClr val="2037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</a:lstStyle>
          <a:p>
            <a:pPr algn="l">
              <a:spcBef>
                <a:spcPts val="0"/>
              </a:spcBef>
              <a:spcAft>
                <a:spcPts val="500"/>
              </a:spcAft>
              <a:defRPr sz="2550" b="1">
                <a:solidFill>
                  <a:srgbClr val="2037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600" b="1" i="0">
                <a:solidFill>
                  <a:srgbClr val="1F4E79"/>
                </a:solidFill>
                <a:latin typeface="Aptos"/>
              </a:rPr>
              <a:t>Testing and Results</a:t>
            </a:r>
            <a:endParaRPr sz="2600" b="1" i="0">
              <a:solidFill>
                <a:srgbClr val="1F4E79"/>
              </a:solidFill>
              <a:latin typeface="Aptos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6576" tIns="27432" rIns="36576" bIns="27432" anchor="ctr"/>
          <a:lstStyle>
            <a:defPPr>
              <a:defRPr sz="1125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</a:lstStyle>
          <a:p>
            <a:pPr algn="l">
              <a:spcBef>
                <a:spcPts val="0"/>
              </a:spcBef>
              <a:spcAft>
                <a:spcPts val="300"/>
              </a:spcAft>
              <a:defRPr sz="1125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 i="0">
                <a:solidFill>
                  <a:srgbClr val="000000"/>
                </a:solidFill>
                <a:latin typeface="Aptos"/>
              </a:rPr>
              <a:t>Computer Networks Laboratory  •  CSE20110</a:t>
            </a:r>
            <a:endParaRPr sz="900" b="0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523875" y="1428750"/>
            <a:ext cx="80962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4864" tIns="27432" rIns="54864" bIns="27432" anchor="ctr"/>
          <a:lstStyle>
            <a:defPPr>
              <a:defRPr sz="1950" b="0">
                <a:solidFill>
                  <a:srgbClr val="66666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</a:lstStyle>
          <a:p>
            <a:pPr algn="l">
              <a:spcBef>
                <a:spcPts val="0"/>
              </a:spcBef>
              <a:spcAft>
                <a:spcPts val="300"/>
              </a:spcAft>
              <a:defRPr sz="1950" b="0">
                <a:solidFill>
                  <a:srgbClr val="66666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523875" y="3905250"/>
            <a:ext cx="8096250" cy="180975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45720" tIns="27432" rIns="45720" bIns="27432" anchor="t"/>
          <a:lstStyle>
            <a:defPPr>
              <a:defRPr sz="1800" b="0">
                <a:solidFill>
                  <a:srgbClr val="2020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</a:lstStyle>
          <a:p>
            <a:pPr algn="l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020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 i="0">
                <a:solidFill>
                  <a:srgbClr val="000000"/>
                </a:solidFill>
                <a:latin typeface="Aptos"/>
              </a:rPr>
              <a:t>Test evidence: FaultDiagnosis DOWN → DOWN → UP sequence passed; SQLite outage/recovery workflow passed; </a:t>
            </a:r>
            <a:endParaRPr sz="1050" b="0" i="0">
              <a:solidFill>
                <a:srgbClr val="00000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020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endParaRPr sz="1050" b="0" i="0">
              <a:solidFill>
                <a:srgbClr val="00000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020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 i="0">
                <a:solidFill>
                  <a:srgbClr val="000000"/>
                </a:solidFill>
                <a:latin typeface="Aptos"/>
              </a:rPr>
              <a:t>TCP open/closed/unresolvable cases passed; dashboard and chart routes returned HTTP 200 in demo mode.</a:t>
            </a:r>
            <a:endParaRPr sz="1050" b="0" i="0">
              <a:solidFill>
                <a:srgbClr val="00000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020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endParaRPr sz="1050" b="0" i="0">
              <a:solidFill>
                <a:srgbClr val="00000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000000"/>
                </a:solidFill>
                <a:latin typeface="Aptos"/>
              </a:rPr>
              <a:t>Limitation: live ICMP parsing was not validated in the test environment. The route-level recovery test script failed because of a test-script mocking defect.</a:t>
            </a:r>
            <a:endParaRPr sz="1050" b="0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21207" y="1115568"/>
            <a:ext cx="1051560" cy="50292"/>
          </a:xfrm>
          <a:prstGeom prst="rect">
            <a:avLst/>
          </a:prstGeom>
          <a:solidFill>
            <a:srgbClr val="1F4E79"/>
          </a:solidFill>
          <a:ln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72768" y="1115568"/>
            <a:ext cx="438912" cy="50292"/>
          </a:xfrm>
          <a:prstGeom prst="rect">
            <a:avLst/>
          </a:prstGeom>
          <a:solidFill>
            <a:srgbClr val="1F4E79"/>
          </a:solidFill>
          <a:ln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0" y="1115568"/>
            <a:ext cx="292608" cy="50292"/>
          </a:xfrm>
          <a:prstGeom prst="rect">
            <a:avLst/>
          </a:prstGeom>
          <a:solidFill>
            <a:srgbClr val="1F4E79"/>
          </a:solidFill>
          <a:ln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98448"/>
            <a:ext cx="7955279" cy="27432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00000"/>
                </a:solidFill>
                <a:latin typeface="Aptos"/>
              </a:rPr>
              <a:t>PACKET TRACER SIMULATION RESULTS  •  IMPORTED FROM CSV</a:t>
            </a:r>
            <a:endParaRPr sz="1100" b="1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94360" y="1700784"/>
            <a:ext cx="2240280" cy="384048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1728216"/>
            <a:ext cx="2167128" cy="3200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ptos"/>
              </a:rPr>
              <a:t>Scenario</a:t>
            </a:r>
            <a:endParaRPr sz="950" b="1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834640" y="1700784"/>
            <a:ext cx="1280160" cy="384048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71216" y="1728216"/>
            <a:ext cx="1207007" cy="3200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ptos"/>
              </a:rPr>
              <a:t>Packets</a:t>
            </a:r>
            <a:endParaRPr sz="950" b="1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114800" y="1700784"/>
            <a:ext cx="1234440" cy="384048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51376" y="1728216"/>
            <a:ext cx="1161288" cy="3200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ptos"/>
              </a:rPr>
              <a:t>Loss</a:t>
            </a:r>
            <a:endParaRPr sz="950" b="1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349240" y="1700784"/>
            <a:ext cx="1143000" cy="384048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85816" y="1728216"/>
            <a:ext cx="1069848" cy="3200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ptos"/>
              </a:rPr>
              <a:t>Status</a:t>
            </a:r>
            <a:endParaRPr sz="950" b="1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92240" y="1700784"/>
            <a:ext cx="1554480" cy="384048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28816" y="1728216"/>
            <a:ext cx="1481328" cy="3200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ptos"/>
              </a:rPr>
              <a:t>Interpretation</a:t>
            </a:r>
            <a:endParaRPr sz="950" b="1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94360" y="2148840"/>
            <a:ext cx="2240280" cy="4480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" y="2167128"/>
            <a:ext cx="2167128" cy="3931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ptos"/>
              </a:rPr>
              <a:t>Normal connectivity</a:t>
            </a:r>
            <a:endParaRPr sz="950" b="0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2834640" y="2148840"/>
            <a:ext cx="1280160" cy="4480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71216" y="2167128"/>
            <a:ext cx="1207007" cy="3931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ptos"/>
              </a:rPr>
              <a:t>4 / 4</a:t>
            </a:r>
            <a:endParaRPr sz="950" b="0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114800" y="2148840"/>
            <a:ext cx="1234440" cy="4480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51376" y="2167128"/>
            <a:ext cx="1161288" cy="3931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ptos"/>
              </a:rPr>
              <a:t>0%</a:t>
            </a:r>
            <a:endParaRPr sz="950" b="0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349240" y="2148840"/>
            <a:ext cx="1143000" cy="4480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85816" y="2167128"/>
            <a:ext cx="1069848" cy="3931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ptos"/>
              </a:rPr>
              <a:t>UP</a:t>
            </a:r>
            <a:endParaRPr sz="950" b="1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492240" y="2148840"/>
            <a:ext cx="1554480" cy="4480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28816" y="2167128"/>
            <a:ext cx="1481328" cy="3931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ptos"/>
              </a:rPr>
              <a:t>Reachable</a:t>
            </a:r>
            <a:endParaRPr sz="950" b="1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94360" y="2670048"/>
            <a:ext cx="2240280" cy="448056"/>
          </a:xfrm>
          <a:prstGeom prst="roundRect">
            <a:avLst>
              <a:gd name="adj" fmla="val 12000"/>
            </a:avLst>
          </a:prstGeom>
          <a:solidFill>
            <a:srgbClr val="F4DDD7"/>
          </a:solidFill>
          <a:ln w="12700"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2688336"/>
            <a:ext cx="2167128" cy="3931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ptos"/>
              </a:rPr>
              <a:t>PC1 disconnected</a:t>
            </a:r>
            <a:endParaRPr sz="950" b="0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2834640" y="2670048"/>
            <a:ext cx="1280160" cy="448056"/>
          </a:xfrm>
          <a:prstGeom prst="roundRect">
            <a:avLst>
              <a:gd name="adj" fmla="val 12000"/>
            </a:avLst>
          </a:prstGeom>
          <a:solidFill>
            <a:srgbClr val="F4DDD7"/>
          </a:solidFill>
          <a:ln w="12700"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71216" y="2688336"/>
            <a:ext cx="1207007" cy="3931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ptos"/>
              </a:rPr>
              <a:t>0 / 3</a:t>
            </a:r>
            <a:endParaRPr sz="950" b="0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114800" y="2670048"/>
            <a:ext cx="1234440" cy="448056"/>
          </a:xfrm>
          <a:prstGeom prst="roundRect">
            <a:avLst>
              <a:gd name="adj" fmla="val 12000"/>
            </a:avLst>
          </a:prstGeom>
          <a:solidFill>
            <a:srgbClr val="F4DDD7"/>
          </a:solidFill>
          <a:ln w="12700"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51376" y="2688336"/>
            <a:ext cx="1161288" cy="3931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ptos"/>
              </a:rPr>
              <a:t>100%</a:t>
            </a:r>
            <a:endParaRPr sz="950" b="0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5349240" y="2670048"/>
            <a:ext cx="1143000" cy="448056"/>
          </a:xfrm>
          <a:prstGeom prst="roundRect">
            <a:avLst>
              <a:gd name="adj" fmla="val 12000"/>
            </a:avLst>
          </a:prstGeom>
          <a:solidFill>
            <a:srgbClr val="F4DDD7"/>
          </a:solidFill>
          <a:ln w="12700"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85816" y="2688336"/>
            <a:ext cx="1069848" cy="3931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ptos"/>
              </a:rPr>
              <a:t>DOWN</a:t>
            </a:r>
            <a:endParaRPr sz="950" b="1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492240" y="2670048"/>
            <a:ext cx="1554480" cy="448056"/>
          </a:xfrm>
          <a:prstGeom prst="roundRect">
            <a:avLst>
              <a:gd name="adj" fmla="val 12000"/>
            </a:avLst>
          </a:prstGeom>
          <a:solidFill>
            <a:srgbClr val="F4DDD7"/>
          </a:solidFill>
          <a:ln w="12700"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28816" y="2688336"/>
            <a:ext cx="1481328" cy="39319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ptos"/>
              </a:rPr>
              <a:t>No replies</a:t>
            </a:r>
            <a:endParaRPr sz="950" b="1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58368" y="3264408"/>
            <a:ext cx="7772400" cy="41148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ptos"/>
              </a:rPr>
              <a:t>Source/destination: 192.168.1.10 → 192.168.1.11  •  These are separate Packet Tracer results, not live dashboard measurements.</a:t>
            </a:r>
            <a:endParaRPr sz="950" b="0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818120" y="448056"/>
            <a:ext cx="731520" cy="22860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000000"/>
                </a:solidFill>
                <a:latin typeface="Aptos"/>
              </a:rPr>
              <a:t>05 / 08</a:t>
            </a:r>
            <a:endParaRPr sz="850" b="1" i="0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6576" tIns="27432" rIns="36576" bIns="27432" anchor="ctr"/>
          <a:lstStyle>
            <a:defPPr>
              <a:defRPr sz="2550" b="1">
                <a:solidFill>
                  <a:srgbClr val="2037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</a:lstStyle>
          <a:p>
            <a:pPr algn="l">
              <a:spcBef>
                <a:spcPts val="0"/>
              </a:spcBef>
              <a:spcAft>
                <a:spcPts val="500"/>
              </a:spcAft>
              <a:defRPr sz="2550" b="1">
                <a:solidFill>
                  <a:srgbClr val="2037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600" b="1" i="0">
                <a:solidFill>
                  <a:srgbClr val="1F4E79"/>
                </a:solidFill>
                <a:latin typeface="Aptos"/>
              </a:rPr>
              <a:t>Working Demonstration</a:t>
            </a:r>
            <a:endParaRPr sz="2600" b="1" i="0">
              <a:solidFill>
                <a:srgbClr val="1F4E79"/>
              </a:solidFill>
              <a:latin typeface="Aptos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6576" tIns="27432" rIns="36576" bIns="27432" anchor="ctr"/>
          <a:lstStyle>
            <a:defPPr>
              <a:defRPr sz="1125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</a:lstStyle>
          <a:p>
            <a:pPr algn="l">
              <a:spcBef>
                <a:spcPts val="0"/>
              </a:spcBef>
              <a:spcAft>
                <a:spcPts val="300"/>
              </a:spcAft>
              <a:defRPr sz="1125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 i="0">
                <a:solidFill>
                  <a:srgbClr val="000000"/>
                </a:solidFill>
                <a:latin typeface="Aptos"/>
              </a:rPr>
              <a:t>Computer Networks Laboratory  •  CSE20110</a:t>
            </a:r>
            <a:endParaRPr sz="900" b="0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523875" y="1428750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6576" tIns="27432" rIns="36576" bIns="27432" anchor="ctr"/>
          <a:lstStyle>
            <a:defPPr>
              <a:defRPr sz="1875" b="1">
                <a:solidFill>
                  <a:srgbClr val="2020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</a:lstStyle>
          <a:p>
            <a:pPr algn="l">
              <a:spcBef>
                <a:spcPts val="0"/>
              </a:spcBef>
              <a:spcAft>
                <a:spcPts val="300"/>
              </a:spcAft>
              <a:defRPr sz="1875" b="1">
                <a:solidFill>
                  <a:srgbClr val="2020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 i="0">
                <a:solidFill>
                  <a:srgbClr val="000000"/>
                </a:solidFill>
                <a:latin typeface="Aptos"/>
              </a:rPr>
              <a:t>Function to demonstrate</a:t>
            </a:r>
            <a:endParaRPr sz="1500" b="1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523875" y="1952625"/>
            <a:ext cx="8096250" cy="3257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6576" tIns="27432" rIns="36576" bIns="27432" anchor="t"/>
          <a:lstStyle>
            <a:defPPr>
              <a:defRPr sz="1950" b="0">
                <a:solidFill>
                  <a:srgbClr val="2020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</a:lstStyle>
          <a:p>
            <a:pPr algn="l">
              <a:spcBef>
                <a:spcPts val="0"/>
              </a:spcBef>
              <a:spcAft>
                <a:spcPts val="300"/>
              </a:spcAft>
              <a:defRPr sz="1950" b="0">
                <a:solidFill>
                  <a:srgbClr val="2020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00" b="0" i="0">
                <a:solidFill>
                  <a:srgbClr val="000000"/>
                </a:solidFill>
                <a:latin typeface="Aptos"/>
              </a:rPr>
              <a:t>Show the Flask dashboard, endpoint summary, TCP service checks and incident/history views.</a:t>
            </a:r>
            <a:endParaRPr sz="1400" b="0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23875" y="3190875"/>
            <a:ext cx="8096250" cy="15240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45720" tIns="27432" rIns="45720" bIns="27432" anchor="t"/>
          <a:lstStyle>
            <a:defPPr>
              <a:defRPr sz="1950" b="0">
                <a:solidFill>
                  <a:srgbClr val="2020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</a:lstStyle>
          <a:p>
            <a:pPr algn="l">
              <a:spcBef>
                <a:spcPts val="0"/>
              </a:spcBef>
              <a:spcAft>
                <a:spcPts val="300"/>
              </a:spcAft>
              <a:defRPr sz="1950" b="0">
                <a:solidFill>
                  <a:srgbClr val="2020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endParaRPr sz="1250" b="0" i="0">
              <a:solidFill>
                <a:srgbClr val="00000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  <a:defRPr sz="1950" b="0">
                <a:solidFill>
                  <a:srgbClr val="2020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50" b="0" i="0">
                <a:solidFill>
                  <a:srgbClr val="000000"/>
                </a:solidFill>
                <a:latin typeface="Aptos"/>
              </a:rPr>
              <a:t>1. Start the Flask application and open the local dashboard.</a:t>
            </a:r>
            <a:endParaRPr sz="1250" b="0" i="0">
              <a:solidFill>
                <a:srgbClr val="00000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000000"/>
                </a:solidFill>
                <a:latin typeface="Aptos"/>
              </a:rPr>
              <a:t>2. Review configured endpoints and the TCP HTTPS port checks.</a:t>
            </a:r>
            <a:endParaRPr sz="1250" b="0" i="0">
              <a:solidFill>
                <a:srgbClr val="00000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000000"/>
                </a:solidFill>
                <a:latin typeface="Aptos"/>
              </a:rPr>
              <a:t>3. Explain the two-failure outage threshold and show charts/history if available.</a:t>
            </a:r>
            <a:endParaRPr sz="1250" b="0" i="0">
              <a:solidFill>
                <a:srgbClr val="00000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000000"/>
                </a:solidFill>
                <a:latin typeface="Aptos"/>
              </a:rPr>
              <a:t>4. Compare the separate Packet Tracer normal and disconnected scenarios.</a:t>
            </a:r>
            <a:endParaRPr sz="1250" b="0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23875" y="5286375"/>
            <a:ext cx="8096250" cy="66675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45720" tIns="27432" rIns="45720" bIns="27432" anchor="t"/>
          <a:lstStyle>
            <a:defPPr>
              <a:defRPr sz="1800" b="0">
                <a:solidFill>
                  <a:srgbClr val="2020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</a:lstStyle>
          <a:p>
            <a:pPr algn="l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020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50" b="1" i="0">
                <a:solidFill>
                  <a:srgbClr val="000000"/>
                </a:solidFill>
                <a:latin typeface="Aptos"/>
              </a:rPr>
              <a:t>Success criterion: audience can follow the monitoring workflow and distinguish demo-mode values from imported Packet Tracer evidence.</a:t>
            </a:r>
            <a:endParaRPr sz="1150" b="1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21207" y="1115568"/>
            <a:ext cx="1051560" cy="50292"/>
          </a:xfrm>
          <a:prstGeom prst="rect">
            <a:avLst/>
          </a:prstGeom>
          <a:solidFill>
            <a:srgbClr val="1F4E79"/>
          </a:solidFill>
          <a:ln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72768" y="1115568"/>
            <a:ext cx="438912" cy="50292"/>
          </a:xfrm>
          <a:prstGeom prst="rect">
            <a:avLst/>
          </a:prstGeom>
          <a:solidFill>
            <a:srgbClr val="1F4E79"/>
          </a:solidFill>
          <a:ln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11680" y="1115568"/>
            <a:ext cx="292608" cy="50292"/>
          </a:xfrm>
          <a:prstGeom prst="rect">
            <a:avLst/>
          </a:prstGeom>
          <a:solidFill>
            <a:srgbClr val="1F4E79"/>
          </a:solidFill>
          <a:ln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1207" y="5010912"/>
            <a:ext cx="8092440" cy="50292"/>
          </a:xfrm>
          <a:prstGeom prst="rect">
            <a:avLst/>
          </a:prstGeom>
          <a:solidFill>
            <a:srgbClr val="1F4E79"/>
          </a:solidFill>
          <a:ln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448056"/>
            <a:ext cx="731520" cy="22860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000000"/>
                </a:solidFill>
                <a:latin typeface="Aptos"/>
              </a:rPr>
              <a:t>06 / 08</a:t>
            </a:r>
            <a:endParaRPr sz="850" b="1" i="0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/>
          </p:cNvSpPr>
          <p:nvPr/>
        </p:nvSpPr>
        <p:spPr>
          <a:xfrm>
            <a:off x="521335" y="11049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6576" tIns="27432" rIns="36576" bIns="27432" anchor="ctr"/>
          <a:lstStyle>
            <a:defPPr>
              <a:defRPr sz="2550" b="1">
                <a:solidFill>
                  <a:srgbClr val="2037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</a:lstStyle>
          <a:p>
            <a:pPr algn="l">
              <a:spcBef>
                <a:spcPts val="0"/>
              </a:spcBef>
              <a:spcAft>
                <a:spcPts val="500"/>
              </a:spcAft>
              <a:defRPr sz="2550" b="1">
                <a:solidFill>
                  <a:srgbClr val="2037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600" b="1" i="0">
                <a:solidFill>
                  <a:srgbClr val="1F4E79"/>
                </a:solidFill>
                <a:latin typeface="Aptos"/>
              </a:rPr>
              <a:t>Conclusion and Contributions</a:t>
            </a:r>
            <a:endParaRPr sz="2600" b="1" i="0">
              <a:solidFill>
                <a:srgbClr val="1F4E79"/>
              </a:solidFill>
              <a:latin typeface="Aptos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453390" y="837565"/>
            <a:ext cx="8096250" cy="9486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5720" tIns="27432" rIns="45720" bIns="27432" anchor="t"/>
          <a:lstStyle>
            <a:defPPr>
              <a:defRPr sz="1875" b="0">
                <a:solidFill>
                  <a:srgbClr val="2020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</a:lstStyle>
          <a:p>
            <a:pPr algn="l">
              <a:spcBef>
                <a:spcPts val="0"/>
              </a:spcBef>
              <a:spcAft>
                <a:spcPts val="300"/>
              </a:spcAft>
              <a:defRPr sz="1875" b="0">
                <a:solidFill>
                  <a:srgbClr val="2020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50" b="0" i="0">
                <a:solidFill>
                  <a:srgbClr val="000000"/>
                </a:solidFill>
                <a:latin typeface="Aptos"/>
              </a:rPr>
              <a:t>Outcome: Flask dashboard prototype combining host checks, TCP service checks, diagnosis, charts and incident records.</a:t>
            </a:r>
            <a:endParaRPr sz="1150" b="0" i="0">
              <a:solidFill>
                <a:srgbClr val="00000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000000"/>
                </a:solidFill>
                <a:latin typeface="Aptos"/>
              </a:rPr>
              <a:t>Application: classroom demonstrations, small lab networks and introductory troubleshooting.</a:t>
            </a:r>
            <a:endParaRPr sz="1150" b="0" i="0">
              <a:solidFill>
                <a:srgbClr val="00000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000000"/>
                </a:solidFill>
                <a:latin typeface="Aptos"/>
              </a:rPr>
              <a:t>Limitation: DEMO_MODE = True randomizes displayed ICMP status, latency and packet loss.</a:t>
            </a:r>
            <a:endParaRPr sz="1150" b="0" i="0">
              <a:solidFill>
                <a:srgbClr val="00000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000000"/>
                </a:solidFill>
                <a:latin typeface="Aptos"/>
              </a:rPr>
              <a:t>Future scope: validate live ICMP, add genuine time-series charts, and move checks to a background scheduler.</a:t>
            </a:r>
            <a:endParaRPr sz="1150" b="0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523875" y="3810000"/>
            <a:ext cx="8096250" cy="20847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5720" tIns="27432" rIns="45720" bIns="27432" anchor="t"/>
          <a:lstStyle>
            <a:defPPr>
              <a:defRPr sz="1650" b="0">
                <a:solidFill>
                  <a:srgbClr val="2020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</a:lstStyle>
          <a:p>
            <a:pPr algn="l">
              <a:spcBef>
                <a:spcPts val="0"/>
              </a:spcBef>
              <a:spcAft>
                <a:spcPts val="300"/>
              </a:spcAft>
              <a:defRPr sz="1650" b="0">
                <a:solidFill>
                  <a:srgbClr val="2020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endParaRPr sz="1050" b="0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23747" y="676783"/>
            <a:ext cx="1051560" cy="50292"/>
          </a:xfrm>
          <a:prstGeom prst="rect">
            <a:avLst/>
          </a:prstGeom>
          <a:solidFill>
            <a:srgbClr val="1F4E79"/>
          </a:solidFill>
          <a:ln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75308" y="676783"/>
            <a:ext cx="438912" cy="50292"/>
          </a:xfrm>
          <a:prstGeom prst="rect">
            <a:avLst/>
          </a:prstGeom>
          <a:solidFill>
            <a:srgbClr val="1F4E79"/>
          </a:solidFill>
          <a:ln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39620" y="676783"/>
            <a:ext cx="292608" cy="50292"/>
          </a:xfrm>
          <a:prstGeom prst="rect">
            <a:avLst/>
          </a:prstGeom>
          <a:solidFill>
            <a:srgbClr val="1F4E79"/>
          </a:solidFill>
          <a:ln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448056"/>
            <a:ext cx="731520" cy="22860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000000"/>
                </a:solidFill>
                <a:latin typeface="Aptos"/>
              </a:rPr>
              <a:t>07 / 08</a:t>
            </a:r>
            <a:endParaRPr sz="850" b="1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523875" y="1846263"/>
            <a:ext cx="5080000" cy="30670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1400" b="1"/>
              <a:t>Team Contributions and Deliverables</a:t>
            </a:r>
            <a:endParaRPr sz="1400" b="1"/>
          </a:p>
        </p:txBody>
      </p:sp>
      <p:graphicFrame>
        <p:nvGraphicFramePr>
          <p:cNvPr id="36" name="Table 35"/>
          <p:cNvGraphicFramePr/>
          <p:nvPr/>
        </p:nvGraphicFramePr>
        <p:xfrm>
          <a:off x="523875" y="2182495"/>
          <a:ext cx="7616825" cy="4215130"/>
        </p:xfrm>
        <a:graphic>
          <a:graphicData uri="http://schemas.openxmlformats.org/drawingml/2006/table">
            <a:tbl>
              <a:tblPr/>
              <a:tblGrid>
                <a:gridCol w="2279650"/>
                <a:gridCol w="2849880"/>
                <a:gridCol w="2487295"/>
              </a:tblGrid>
              <a:tr h="167640">
                <a:tc>
                  <a:txBody>
                    <a:bodyPr/>
                    <a:p>
                      <a:pPr algn="l">
                        <a:lnSpc>
                          <a:spcPct val="11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Times New Roman" panose="02020503050405090304"/>
                          <a:ea typeface="ＭＳ 明朝"/>
                        </a:rPr>
                        <a:t>Student Name and PRN</a:t>
                      </a:r>
                      <a:endParaRPr sz="1000" b="1">
                        <a:solidFill>
                          <a:srgbClr val="000000"/>
                        </a:solidFill>
                        <a:latin typeface="Times New Roman" panose="02020503050405090304"/>
                        <a:ea typeface="ＭＳ 明朝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1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Times New Roman" panose="02020503050405090304"/>
                          <a:ea typeface="ＭＳ 明朝"/>
                        </a:rPr>
                        <a:t>Work Completed</a:t>
                      </a:r>
                      <a:endParaRPr sz="1000" b="1">
                        <a:solidFill>
                          <a:srgbClr val="000000"/>
                        </a:solidFill>
                        <a:latin typeface="Times New Roman" panose="02020503050405090304"/>
                        <a:ea typeface="ＭＳ 明朝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1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Times New Roman" panose="02020503050405090304"/>
                          <a:ea typeface="ＭＳ 明朝"/>
                        </a:rPr>
                        <a:t>Evidence or Deliverable</a:t>
                      </a:r>
                      <a:endParaRPr sz="1000" b="1">
                        <a:solidFill>
                          <a:srgbClr val="000000"/>
                        </a:solidFill>
                        <a:latin typeface="Times New Roman" panose="02020503050405090304"/>
                        <a:ea typeface="ＭＳ 明朝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1517650">
                <a:tc>
                  <a:txBody>
                    <a:bodyPr/>
                    <a:p>
                      <a:pPr algn="l">
                        <a:lnSpc>
                          <a:spcPct val="11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Times New Roman" panose="02020503050405090304"/>
                          <a:ea typeface="ＭＳ 明朝"/>
                        </a:rPr>
                        <a:t>Ishita Lodha  </a:t>
                      </a:r>
                      <a:endParaRPr sz="1000">
                        <a:solidFill>
                          <a:srgbClr val="000000"/>
                        </a:solidFill>
                        <a:latin typeface="Times New Roman" panose="02020503050405090304"/>
                        <a:ea typeface="ＭＳ 明朝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Times New Roman" panose="02020503050405090304"/>
                          <a:ea typeface="ＭＳ 明朝"/>
                        </a:rPr>
                        <a:t>1262242134</a:t>
                      </a:r>
                      <a:endParaRPr sz="1000">
                        <a:solidFill>
                          <a:srgbClr val="000000"/>
                        </a:solidFill>
                        <a:latin typeface="Times New Roman" panose="02020503050405090304"/>
                        <a:ea typeface="ＭＳ 明朝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1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Times New Roman" panose="02020503050405090304"/>
                          <a:ea typeface="ＭＳ 明朝"/>
                        </a:rPr>
                        <a:t>Led project integration and validation; worked on network monitoring and fault-diagnosis workflow; performed normal and failure connectivity testing in Cisco Packet Tracer; analyzed packet loss and connectivity status; prepared test evidence and project documentation.</a:t>
                      </a:r>
                      <a:endParaRPr sz="1100">
                        <a:solidFill>
                          <a:srgbClr val="000000"/>
                        </a:solidFill>
                        <a:latin typeface="Times New Roman" panose="02020503050405090304"/>
                        <a:ea typeface="ＭＳ 明朝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1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Times New Roman" panose="02020503050405090304"/>
                          <a:ea typeface="ＭＳ 明朝"/>
                        </a:rPr>
                        <a:t>NetworkHealthMonitor.pkt; normal and failed connectivity screenshots; project report and testing results</a:t>
                      </a:r>
                      <a:endParaRPr sz="1100">
                        <a:solidFill>
                          <a:srgbClr val="000000"/>
                        </a:solidFill>
                        <a:latin typeface="Times New Roman" panose="02020503050405090304"/>
                        <a:ea typeface="ＭＳ 明朝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43280">
                <a:tc>
                  <a:txBody>
                    <a:bodyPr/>
                    <a:p>
                      <a:pPr algn="l">
                        <a:lnSpc>
                          <a:spcPct val="11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Times New Roman" panose="02020503050405090304"/>
                          <a:ea typeface="ＭＳ 明朝"/>
                        </a:rPr>
                        <a:t>Harshada Suryawanshi 1272250822</a:t>
                      </a:r>
                      <a:endParaRPr sz="1000">
                        <a:solidFill>
                          <a:srgbClr val="000000"/>
                        </a:solidFill>
                        <a:latin typeface="Times New Roman" panose="02020503050405090304"/>
                        <a:ea typeface="ＭＳ 明朝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1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Times New Roman" panose="02020503050405090304"/>
                          <a:ea typeface="ＭＳ 明朝"/>
                        </a:rPr>
                        <a:t>Worked on host monitoring functionality, including checking device availability, measuring network latency, and configuring monitored hosts.</a:t>
                      </a:r>
                      <a:endParaRPr sz="1100">
                        <a:solidFill>
                          <a:srgbClr val="000000"/>
                        </a:solidFill>
                        <a:latin typeface="Times New Roman" panose="02020503050405090304"/>
                        <a:ea typeface="ＭＳ 明朝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1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Times New Roman" panose="02020503050405090304"/>
                          <a:ea typeface="ＭＳ 明朝"/>
                        </a:rPr>
                        <a:t>monitor.py; devices.json; host monitoring results</a:t>
                      </a:r>
                      <a:endParaRPr sz="1100">
                        <a:solidFill>
                          <a:srgbClr val="000000"/>
                        </a:solidFill>
                        <a:latin typeface="Times New Roman" panose="02020503050405090304"/>
                        <a:ea typeface="ＭＳ 明朝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43280">
                <a:tc>
                  <a:txBody>
                    <a:bodyPr/>
                    <a:p>
                      <a:pPr algn="l">
                        <a:lnSpc>
                          <a:spcPct val="11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Times New Roman" panose="02020503050405090304"/>
                          <a:ea typeface="ＭＳ 明朝"/>
                        </a:rPr>
                        <a:t>Tanushree Balote /1272250799</a:t>
                      </a:r>
                      <a:endParaRPr sz="1000">
                        <a:solidFill>
                          <a:srgbClr val="000000"/>
                        </a:solidFill>
                        <a:latin typeface="Times New Roman" panose="02020503050405090304"/>
                        <a:ea typeface="ＭＳ 明朝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1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Times New Roman" panose="02020503050405090304"/>
                          <a:ea typeface="ＭＳ 明朝"/>
                        </a:rPr>
                        <a:t>Worked on fault diagnosis and service monitoring, including identifying repeated host failures and detecting unavailable network services.</a:t>
                      </a:r>
                      <a:endParaRPr sz="1100">
                        <a:solidFill>
                          <a:srgbClr val="000000"/>
                        </a:solidFill>
                        <a:latin typeface="Times New Roman" panose="02020503050405090304"/>
                        <a:ea typeface="ＭＳ 明朝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1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Times New Roman" panose="02020503050405090304"/>
                          <a:ea typeface="ＭＳ 明朝"/>
                        </a:rPr>
                        <a:t>fault_diagnosis.py; service_diagnosis.py; fault and service alerts</a:t>
                      </a:r>
                      <a:endParaRPr sz="1100">
                        <a:solidFill>
                          <a:srgbClr val="000000"/>
                        </a:solidFill>
                        <a:latin typeface="Times New Roman" panose="02020503050405090304"/>
                        <a:ea typeface="ＭＳ 明朝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43280">
                <a:tc>
                  <a:txBody>
                    <a:bodyPr/>
                    <a:p>
                      <a:pPr algn="l">
                        <a:lnSpc>
                          <a:spcPct val="11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Times New Roman" panose="02020503050405090304"/>
                          <a:ea typeface="ＭＳ 明朝"/>
                        </a:rPr>
                        <a:t>Satyam Jha </a:t>
                      </a:r>
                      <a:endParaRPr sz="1000">
                        <a:solidFill>
                          <a:srgbClr val="000000"/>
                        </a:solidFill>
                        <a:latin typeface="Times New Roman" panose="02020503050405090304"/>
                        <a:ea typeface="ＭＳ 明朝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Times New Roman" panose="02020503050405090304"/>
                          <a:ea typeface="ＭＳ 明朝"/>
                        </a:rPr>
                        <a:t>1262240703</a:t>
                      </a:r>
                      <a:endParaRPr sz="1000">
                        <a:solidFill>
                          <a:srgbClr val="000000"/>
                        </a:solidFill>
                        <a:latin typeface="Times New Roman" panose="02020503050405090304"/>
                        <a:ea typeface="ＭＳ 明朝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1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Times New Roman" panose="02020503050405090304"/>
                          <a:ea typeface="ＭＳ 明朝"/>
                        </a:rPr>
                        <a:t>Worked on dashboard visualization, monitoring data logging, latency and packet-loss charts, and persistent incident history</a:t>
                      </a:r>
                      <a:endParaRPr sz="1100">
                        <a:solidFill>
                          <a:srgbClr val="000000"/>
                        </a:solidFill>
                        <a:latin typeface="Times New Roman" panose="02020503050405090304"/>
                        <a:ea typeface="ＭＳ 明朝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1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Times New Roman" panose="02020503050405090304"/>
                          <a:ea typeface="ＭＳ 明朝"/>
                        </a:rPr>
                        <a:t>app.py; charts.py; history.py; incident_history.py; dashboard and incident records</a:t>
                      </a:r>
                      <a:endParaRPr sz="1100">
                        <a:solidFill>
                          <a:srgbClr val="000000"/>
                        </a:solidFill>
                        <a:latin typeface="Times New Roman" panose="02020503050405090304"/>
                        <a:ea typeface="ＭＳ 明朝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solidFill>
              <a:srgbClr val="E2ECF7"/>
            </a:solidFill>
            <a:prstDash val="solid"/>
          </a:ln>
        </p:spPr>
        <p:txBody>
          <a:bodyPr wrap="square" lIns="36576" tIns="27432" rIns="36576" bIns="27432" anchor="ctr"/>
          <a:lstStyle>
            <a:defPPr>
              <a:defRPr sz="2550" b="1">
                <a:solidFill>
                  <a:srgbClr val="2037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</a:lstStyle>
          <a:p>
            <a:pPr algn="l">
              <a:spcBef>
                <a:spcPts val="0"/>
              </a:spcBef>
              <a:spcAft>
                <a:spcPts val="500"/>
              </a:spcAft>
              <a:defRPr sz="2550" b="1">
                <a:solidFill>
                  <a:srgbClr val="20375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600" b="1" i="0">
                <a:solidFill>
                  <a:srgbClr val="1F4E79"/>
                </a:solidFill>
                <a:latin typeface="Aptos"/>
              </a:rPr>
              <a:t>References</a:t>
            </a:r>
            <a:endParaRPr sz="2600" b="1" i="0">
              <a:solidFill>
                <a:srgbClr val="1F4E79"/>
              </a:solidFill>
              <a:latin typeface="Aptos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solidFill>
              <a:srgbClr val="E2ECF7"/>
            </a:solidFill>
            <a:prstDash val="solid"/>
          </a:ln>
        </p:spPr>
        <p:txBody>
          <a:bodyPr wrap="square" lIns="36576" tIns="27432" rIns="36576" bIns="27432" anchor="ctr"/>
          <a:lstStyle>
            <a:defPPr>
              <a:defRPr sz="1125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</a:lstStyle>
          <a:p>
            <a:pPr algn="l">
              <a:spcBef>
                <a:spcPts val="0"/>
              </a:spcBef>
              <a:spcAft>
                <a:spcPts val="300"/>
              </a:spcAft>
              <a:defRPr sz="1125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 i="0">
                <a:solidFill>
                  <a:srgbClr val="000000"/>
                </a:solidFill>
                <a:latin typeface="Aptos"/>
              </a:rPr>
              <a:t>Computer Networks Laboratory  •  CSE20110</a:t>
            </a:r>
            <a:endParaRPr sz="900" b="0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523875" y="1524000"/>
            <a:ext cx="8096250" cy="3048000"/>
          </a:xfrm>
          <a:prstGeom prst="rect">
            <a:avLst/>
          </a:prstGeom>
          <a:noFill/>
          <a:ln w="0">
            <a:solidFill>
              <a:srgbClr val="E2ECF7"/>
            </a:solidFill>
            <a:prstDash val="solid"/>
          </a:ln>
        </p:spPr>
        <p:txBody>
          <a:bodyPr wrap="square" lIns="73152" tIns="27432" rIns="73152" bIns="27432" anchor="t"/>
          <a:lstStyle>
            <a:defPPr>
              <a:defRPr sz="1800" b="0">
                <a:solidFill>
                  <a:srgbClr val="2020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</a:lstStyle>
          <a:p>
            <a:pPr algn="l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0202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 i="0">
                <a:solidFill>
                  <a:srgbClr val="000000"/>
                </a:solidFill>
                <a:latin typeface="Aptos"/>
              </a:rPr>
              <a:t>[1] J. Postel, “Internet Control Message Protocol,” RFC 792, IETF, Sep. 1981.</a:t>
            </a:r>
            <a:endParaRPr sz="1200" b="0" i="0">
              <a:solidFill>
                <a:srgbClr val="00000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000000"/>
                </a:solidFill>
                <a:latin typeface="Aptos"/>
              </a:rPr>
              <a:t>[2] Internet Engineering Task Force, “Transmission Control Protocol (TCP),” RFC 9293, Aug. 2022.</a:t>
            </a:r>
            <a:endParaRPr sz="1200" b="0" i="0">
              <a:solidFill>
                <a:srgbClr val="00000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000000"/>
                </a:solidFill>
                <a:latin typeface="Aptos"/>
              </a:rPr>
              <a:t>[3] Python Software Foundation, “socket — Low-level Networking Interface.” https://docs.python.org/3/library/socket.html</a:t>
            </a:r>
            <a:endParaRPr sz="1200" b="0" i="0">
              <a:solidFill>
                <a:srgbClr val="00000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000000"/>
                </a:solidFill>
                <a:latin typeface="Aptos"/>
              </a:rPr>
              <a:t>[4] Pallets Projects, “Flask Documentation.” https://flask.palletsprojects.com/</a:t>
            </a:r>
            <a:endParaRPr sz="1200" b="0" i="0">
              <a:solidFill>
                <a:srgbClr val="00000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000000"/>
                </a:solidFill>
                <a:latin typeface="Aptos"/>
              </a:rPr>
              <a:t>[5] Python Software Foundation, “sqlite3 — DB-API 2.0 interface for SQLite databases.” https://docs.python.org/3/library/sqlite3.html</a:t>
            </a:r>
            <a:endParaRPr sz="1200" b="0" i="0">
              <a:solidFill>
                <a:srgbClr val="000000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000000"/>
                </a:solidFill>
                <a:latin typeface="Aptos"/>
              </a:rPr>
              <a:t>[6] Cisco, “Cisco Packet Tracer.” https://www.netacad.com/cisco-packet-tracer</a:t>
            </a:r>
            <a:endParaRPr sz="1200" b="0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21207" y="1115568"/>
            <a:ext cx="1051560" cy="50292"/>
          </a:xfrm>
          <a:prstGeom prst="rect">
            <a:avLst/>
          </a:prstGeom>
          <a:solidFill>
            <a:srgbClr val="1F4E79"/>
          </a:solidFill>
          <a:ln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72768" y="1115568"/>
            <a:ext cx="438912" cy="50292"/>
          </a:xfrm>
          <a:prstGeom prst="rect">
            <a:avLst/>
          </a:prstGeom>
          <a:solidFill>
            <a:srgbClr val="1F4E79"/>
          </a:solidFill>
          <a:ln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0" y="1115568"/>
            <a:ext cx="292608" cy="50292"/>
          </a:xfrm>
          <a:prstGeom prst="rect">
            <a:avLst/>
          </a:prstGeom>
          <a:solidFill>
            <a:srgbClr val="1F4E79"/>
          </a:solidFill>
          <a:ln>
            <a:solidFill>
              <a:srgbClr val="E2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448056"/>
            <a:ext cx="731520" cy="22860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000000"/>
                </a:solidFill>
                <a:latin typeface="Aptos"/>
              </a:rPr>
              <a:t>08 / 08</a:t>
            </a:r>
            <a:endParaRPr sz="850" b="1" i="0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6018</Words>
  <Application>WPS Docs</Application>
  <PresentationFormat>On-screen Show (4:3)</PresentationFormat>
  <Paragraphs>238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5" baseType="lpstr">
      <vt:lpstr>Arial</vt:lpstr>
      <vt:lpstr>SimSun</vt:lpstr>
      <vt:lpstr>Wingdings</vt:lpstr>
      <vt:lpstr>Arial</vt:lpstr>
      <vt:lpstr>Aptos</vt:lpstr>
      <vt:lpstr>Helvetica Neue</vt:lpstr>
      <vt:lpstr>Microsoft YaHei</vt:lpstr>
      <vt:lpstr>汉仪旗黑</vt:lpstr>
      <vt:lpstr>Arial Unicode MS</vt:lpstr>
      <vt:lpstr>宋体-简</vt:lpstr>
      <vt:lpstr>Aptos</vt:lpstr>
      <vt:lpstr>Wingdings</vt:lpstr>
      <vt:lpstr>ＭＳ 明朝</vt:lpstr>
      <vt:lpstr>Times New Roman</vt:lpstr>
      <vt:lpstr>Hiragino Sans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SATYAM JHA</cp:lastModifiedBy>
  <cp:revision>3</cp:revision>
  <dcterms:created xsi:type="dcterms:W3CDTF">2026-10-21T17:34:50Z</dcterms:created>
  <dcterms:modified xsi:type="dcterms:W3CDTF">2026-10-21T17:34:50Z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1033-12.1.29182.29182</vt:lpwstr>
  </property>
  <property fmtid="{D5CDD505-2E9C-101B-9397-08002B2CF9AE}" pid="3" name="ICV">
    <vt:lpwstr>8218484D2C0A77D9BAF7D86ACAF8BDE7_43</vt:lpwstr>
  </property>
</Properties>
</file>